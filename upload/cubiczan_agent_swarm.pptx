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upload/slides/cover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710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0F5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87301" y="850404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00F5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87301" y="1231255"/>
            <a:ext cx="7342650" cy="662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30"/>
              </a:lnSpc>
              <a:spcAft>
                <a:spcPts val="600"/>
              </a:spcAft>
              <a:buNone/>
            </a:pPr>
            <a:r>
              <a:rPr lang="en-US" sz="4200" b="1" spc="-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CubicZan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787301" y="1920776"/>
            <a:ext cx="7021074" cy="662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30"/>
              </a:lnSpc>
              <a:spcAft>
                <a:spcPts val="1600"/>
              </a:spcAft>
              <a:buNone/>
            </a:pPr>
            <a:r>
              <a:rPr lang="en-US" sz="4200" b="1" spc="-50" kern="0" dirty="0">
                <a:solidFill>
                  <a:srgbClr val="00F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Swarm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787301" y="2737247"/>
            <a:ext cx="5627578" cy="1049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2800"/>
              </a:spcAft>
              <a:buNone/>
            </a:pPr>
            <a:r>
              <a:rPr lang="en-US" sz="1700" dirty="0">
                <a:solidFill>
                  <a:srgbClr val="FFFFFF">
                    <a:alpha val="7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Autonomous AI agent swarm for intelligent data annotation, accelerating LLM training pipelines by 10x.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87301" y="4064347"/>
            <a:ext cx="589555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100" kern="0" dirty="0">
                <a:solidFill>
                  <a:srgbClr val="FFFFFF">
                    <a:alpha val="4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SUPERMOON 2026  ·  GROWTH ENGINE APPLICATION</a:t>
            </a:r>
            <a:endParaRPr lang="en-US" sz="1200" dirty="0"/>
          </a:p>
        </p:txBody>
      </p:sp>
      <p:pic>
        <p:nvPicPr>
          <p:cNvPr id="10" name="Image 1" descr="/home/z/my-project/upload/slides/logo-2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8899" y="1809750"/>
            <a:ext cx="1524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upload/slides/dark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F5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09600" y="292001"/>
            <a:ext cx="2463381" cy="43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09600" y="768251"/>
            <a:ext cx="457200" cy="25301"/>
          </a:xfrm>
          <a:prstGeom prst="rect">
            <a:avLst/>
          </a:prstGeom>
          <a:solidFill>
            <a:srgbClr val="00F5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09600" y="920502"/>
            <a:ext cx="7924800" cy="921246"/>
          </a:xfrm>
          <a:prstGeom prst="roundRect">
            <a:avLst>
              <a:gd name="adj" fmla="val 827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822275" y="1056977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FF5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917228" y="1096566"/>
            <a:ext cx="123435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28576" y="1056977"/>
            <a:ext cx="397801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Annotation Is the #1 AI Bottleneck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28576" y="1304627"/>
            <a:ext cx="7214964" cy="427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Annotators take 15-45 min per long-context document. At $0.10-$2.00 per label, enterprise annotation costs millions and cannot scale.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09600" y="1943249"/>
            <a:ext cx="7924800" cy="921246"/>
          </a:xfrm>
          <a:prstGeom prst="roundRect">
            <a:avLst>
              <a:gd name="adj" fmla="val 827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822275" y="2079724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FF5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917228" y="2119313"/>
            <a:ext cx="123435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228576" y="2079724"/>
            <a:ext cx="346412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Long-Context Worsens Inconsistency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28576" y="2327374"/>
            <a:ext cx="7104951" cy="427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Inter-annotator agreement drops below 70% for 4K+ token tasks. Fatigue and cognitive load produce noisy labels that degrade models.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09600" y="2965996"/>
            <a:ext cx="7924800" cy="921246"/>
          </a:xfrm>
          <a:prstGeom prst="roundRect">
            <a:avLst>
              <a:gd name="adj" fmla="val 827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822275" y="3102471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FF5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917228" y="3142059"/>
            <a:ext cx="123435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228576" y="3102471"/>
            <a:ext cx="310789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Unified Cross-Task Solution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228576" y="3350121"/>
            <a:ext cx="6874765" cy="427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NER tools cannot classify. QA labelers cannot evaluate code. Teams juggle 5-10 tools, fragmenting workflows.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09600" y="3988743"/>
            <a:ext cx="7924800" cy="716161"/>
          </a:xfrm>
          <a:prstGeom prst="roundRect">
            <a:avLst>
              <a:gd name="adj" fmla="val 1064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822275" y="4125218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FF5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917228" y="4164806"/>
            <a:ext cx="123435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228576" y="4125218"/>
            <a:ext cx="341487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Exploding: $10.3B by 2028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228576" y="4372868"/>
            <a:ext cx="741201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28.2% CAGR driven by LLM demands. Supply of qualified annotators cannot keep pace with demand.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0D13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6348636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Solution: Intelligent Agent Swarm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863501"/>
            <a:ext cx="3987850" cy="1891308"/>
          </a:xfrm>
          <a:prstGeom prst="roundRect">
            <a:avLst>
              <a:gd name="adj" fmla="val 6715"/>
            </a:avLst>
          </a:prstGeom>
          <a:solidFill>
            <a:srgbClr val="1620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247900" y="1066651"/>
            <a:ext cx="507950" cy="507950"/>
          </a:xfrm>
          <a:prstGeom prst="roundRect">
            <a:avLst>
              <a:gd name="adj" fmla="val 20002"/>
            </a:avLst>
          </a:prstGeom>
          <a:solidFill>
            <a:srgbClr val="00F5A0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/home/z/my-project/upload/slides/icon-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9401" y="1168152"/>
            <a:ext cx="304800" cy="30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15155" y="1676102"/>
            <a:ext cx="237329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ICL-Powered Reasoning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840" y="1964978"/>
            <a:ext cx="3814070" cy="633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5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Qwen3-4B with in-context learning reasons through each annotation step-by-step, matching expert judgment without fine-tuning.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648200" y="863501"/>
            <a:ext cx="3987850" cy="1891308"/>
          </a:xfrm>
          <a:prstGeom prst="roundRect">
            <a:avLst>
              <a:gd name="adj" fmla="val 6715"/>
            </a:avLst>
          </a:prstGeom>
          <a:solidFill>
            <a:srgbClr val="1620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388150" y="1066651"/>
            <a:ext cx="507950" cy="507950"/>
          </a:xfrm>
          <a:prstGeom prst="roundRect">
            <a:avLst>
              <a:gd name="adj" fmla="val 20002"/>
            </a:avLst>
          </a:prstGeom>
          <a:solidFill>
            <a:srgbClr val="00F5A0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1" descr="/home/z/my-project/upload/slides/icon-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9650" y="1168152"/>
            <a:ext cx="304800" cy="304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54292" y="1676102"/>
            <a:ext cx="177566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Multi-Task Swarm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735090" y="1964978"/>
            <a:ext cx="3814070" cy="633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5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deployment handles 8+ tasks: math, NLP, code, QA, classification, summarization, NLI, and knowledge retrieval.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07950" y="2881759"/>
            <a:ext cx="3987850" cy="1891308"/>
          </a:xfrm>
          <a:prstGeom prst="roundRect">
            <a:avLst>
              <a:gd name="adj" fmla="val 6715"/>
            </a:avLst>
          </a:prstGeom>
          <a:solidFill>
            <a:srgbClr val="1620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2247900" y="3084909"/>
            <a:ext cx="507950" cy="507950"/>
          </a:xfrm>
          <a:prstGeom prst="roundRect">
            <a:avLst>
              <a:gd name="adj" fmla="val 20002"/>
            </a:avLst>
          </a:prstGeom>
          <a:solidFill>
            <a:srgbClr val="00F5A0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/home/z/my-project/upload/slides/icon-bo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9401" y="3186410"/>
            <a:ext cx="304800" cy="3048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50413" y="3694361"/>
            <a:ext cx="270292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Self-Consistency Validation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94840" y="3983236"/>
            <a:ext cx="3814070" cy="633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5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Multiple inference passes with varied temperature, aggregated via majority voting to eliminate hallucinations.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648200" y="2881759"/>
            <a:ext cx="3987850" cy="1891308"/>
          </a:xfrm>
          <a:prstGeom prst="roundRect">
            <a:avLst>
              <a:gd name="adj" fmla="val 6715"/>
            </a:avLst>
          </a:prstGeom>
          <a:solidFill>
            <a:srgbClr val="1620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6388150" y="3084909"/>
            <a:ext cx="507950" cy="507950"/>
          </a:xfrm>
          <a:prstGeom prst="roundRect">
            <a:avLst>
              <a:gd name="adj" fmla="val 20002"/>
            </a:avLst>
          </a:prstGeom>
          <a:solidFill>
            <a:srgbClr val="00F5A0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3" descr="/home/z/my-project/upload/slides/icon-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9650" y="3186410"/>
            <a:ext cx="304800" cy="3048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83592" y="3694361"/>
            <a:ext cx="211706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32K Context Window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735090" y="3983236"/>
            <a:ext cx="3814070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5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Native 32K token support with intelligent chunking, preserving the most semantically relevant portions.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0D13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6099349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Works: Technical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4948" y="1295846"/>
            <a:ext cx="1650950" cy="673001"/>
          </a:xfrm>
          <a:prstGeom prst="roundRect">
            <a:avLst>
              <a:gd name="adj" fmla="val 11322"/>
            </a:avLst>
          </a:prstGeom>
          <a:solidFill>
            <a:srgbClr val="162033"/>
          </a:solidFill>
          <a:ln w="9525">
            <a:solidFill>
              <a:srgbClr val="00F5A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51483" y="1432322"/>
            <a:ext cx="897731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Raw Data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20694" y="1641872"/>
            <a:ext cx="959459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5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JSON / CSV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02098" y="1513284"/>
            <a:ext cx="23101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F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55999" y="1295846"/>
            <a:ext cx="1650950" cy="673001"/>
          </a:xfrm>
          <a:prstGeom prst="roundRect">
            <a:avLst>
              <a:gd name="adj" fmla="val 11322"/>
            </a:avLst>
          </a:prstGeom>
          <a:solidFill>
            <a:srgbClr val="162033"/>
          </a:solidFill>
          <a:ln w="9525">
            <a:solidFill>
              <a:srgbClr val="00F5A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049149" y="1432322"/>
            <a:ext cx="1064651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ICL Selector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16500" y="1641872"/>
            <a:ext cx="1329949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5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Few-Shot Engine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83150" y="1513284"/>
            <a:ext cx="23101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F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37050" y="1295846"/>
            <a:ext cx="1650950" cy="673001"/>
          </a:xfrm>
          <a:prstGeom prst="roundRect">
            <a:avLst>
              <a:gd name="adj" fmla="val 11322"/>
            </a:avLst>
          </a:prstGeom>
          <a:solidFill>
            <a:srgbClr val="162033"/>
          </a:solidFill>
          <a:ln w="9525">
            <a:solidFill>
              <a:srgbClr val="00F5A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79812" y="1432322"/>
            <a:ext cx="1365278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Builder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99792" y="1641872"/>
            <a:ext cx="92531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5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Task-Aware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64201" y="1513284"/>
            <a:ext cx="23101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F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18102" y="1295846"/>
            <a:ext cx="1650950" cy="673001"/>
          </a:xfrm>
          <a:prstGeom prst="roundRect">
            <a:avLst>
              <a:gd name="adj" fmla="val 11322"/>
            </a:avLst>
          </a:prstGeom>
          <a:solidFill>
            <a:srgbClr val="00F5A0">
              <a:alpha val="12000"/>
            </a:srgbClr>
          </a:solidFill>
          <a:ln w="9525">
            <a:solidFill>
              <a:srgbClr val="00F5A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046655" y="1432322"/>
            <a:ext cx="993696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Qwen3-4B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23385" y="1641872"/>
            <a:ext cx="124038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5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4-bit Quantized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7950" y="2070348"/>
            <a:ext cx="8128099" cy="1266527"/>
          </a:xfrm>
          <a:prstGeom prst="roundRect">
            <a:avLst>
              <a:gd name="adj" fmla="val 8022"/>
            </a:avLst>
          </a:prstGeom>
          <a:solidFill>
            <a:srgbClr val="00F5A0">
              <a:alpha val="6000"/>
            </a:srgbClr>
          </a:solidFill>
          <a:ln w="19050">
            <a:solidFill>
              <a:srgbClr val="00F5A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30151" y="2241798"/>
            <a:ext cx="1557373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F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Inference Engine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0151" y="2562374"/>
            <a:ext cx="2476500" cy="603052"/>
          </a:xfrm>
          <a:prstGeom prst="roundRect">
            <a:avLst>
              <a:gd name="adj" fmla="val 12636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262960" y="2673400"/>
            <a:ext cx="141073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Chain-of-Thought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45884" y="2873425"/>
            <a:ext cx="184503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5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Step-by-step reasoning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33601" y="2562374"/>
            <a:ext cx="2476649" cy="603052"/>
          </a:xfrm>
          <a:prstGeom prst="roundRect">
            <a:avLst>
              <a:gd name="adj" fmla="val 12636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898170" y="2673400"/>
            <a:ext cx="1347511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Multi-Temp Runs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915732" y="2873425"/>
            <a:ext cx="1312387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5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3+ varied passes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37200" y="2562374"/>
            <a:ext cx="2476649" cy="603052"/>
          </a:xfrm>
          <a:prstGeom prst="roundRect">
            <a:avLst>
              <a:gd name="adj" fmla="val 12636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616827" y="2673400"/>
            <a:ext cx="1117247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Majority Vote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93427" y="2873425"/>
            <a:ext cx="1564047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5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Robust aggregation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384399" y="3447901"/>
            <a:ext cx="1905000" cy="603052"/>
          </a:xfrm>
          <a:prstGeom prst="roundRect">
            <a:avLst>
              <a:gd name="adj" fmla="val 12636"/>
            </a:avLst>
          </a:prstGeom>
          <a:solidFill>
            <a:srgbClr val="1620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700125" y="3549402"/>
            <a:ext cx="1273400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Label Extractor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609857" y="3758952"/>
            <a:ext cx="145393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5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Structured parsing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365599" y="3630364"/>
            <a:ext cx="23101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619500" y="3447901"/>
            <a:ext cx="1905000" cy="603052"/>
          </a:xfrm>
          <a:prstGeom prst="roundRect">
            <a:avLst>
              <a:gd name="adj" fmla="val 12636"/>
            </a:avLst>
          </a:prstGeom>
          <a:solidFill>
            <a:srgbClr val="1620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784897" y="3549402"/>
            <a:ext cx="1574057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Confidence Scorer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978603" y="3758952"/>
            <a:ext cx="118664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5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metrics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600700" y="3630364"/>
            <a:ext cx="23101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854601" y="3438376"/>
            <a:ext cx="1905000" cy="622102"/>
          </a:xfrm>
          <a:prstGeom prst="roundRect">
            <a:avLst>
              <a:gd name="adj" fmla="val 12249"/>
            </a:avLst>
          </a:prstGeom>
          <a:solidFill>
            <a:srgbClr val="A855F7">
              <a:alpha val="12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001896" y="3549402"/>
            <a:ext cx="1610410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Export CSV / JSON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119046" y="3758952"/>
            <a:ext cx="1375961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5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Production-ready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662857" y="4212729"/>
            <a:ext cx="1885652" cy="345877"/>
          </a:xfrm>
          <a:prstGeom prst="roundRect">
            <a:avLst>
              <a:gd name="adj" fmla="val 22031"/>
            </a:avLst>
          </a:prstGeom>
          <a:solidFill>
            <a:srgbClr val="FF5E3A">
              <a:alpha val="10000"/>
            </a:srgbClr>
          </a:solidFill>
          <a:ln w="9525">
            <a:solidFill>
              <a:srgbClr val="FF5E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728274" y="4295180"/>
            <a:ext cx="836399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Memory: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357955" y="4295180"/>
            <a:ext cx="1138839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E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2-3 GB VRAM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675459" y="4212729"/>
            <a:ext cx="2169021" cy="345877"/>
          </a:xfrm>
          <a:prstGeom prst="roundRect">
            <a:avLst>
              <a:gd name="adj" fmla="val 22031"/>
            </a:avLst>
          </a:prstGeom>
          <a:solidFill>
            <a:srgbClr val="FF5E3A">
              <a:alpha val="10000"/>
            </a:srgbClr>
          </a:solidFill>
          <a:ln w="9525">
            <a:solidFill>
              <a:srgbClr val="FF5E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3763514" y="4295180"/>
            <a:ext cx="64021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Speed: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208114" y="4295180"/>
            <a:ext cx="159618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E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3-8 sec / annotation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971431" y="4212729"/>
            <a:ext cx="1509564" cy="345877"/>
          </a:xfrm>
          <a:prstGeom prst="roundRect">
            <a:avLst>
              <a:gd name="adj" fmla="val 22031"/>
            </a:avLst>
          </a:prstGeom>
          <a:solidFill>
            <a:srgbClr val="FF5E3A">
              <a:alpha val="10000"/>
            </a:srgbClr>
          </a:solidFill>
          <a:ln w="9525">
            <a:solidFill>
              <a:srgbClr val="FF5E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032316" y="4295180"/>
            <a:ext cx="87567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Accuracy: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709650" y="4295180"/>
            <a:ext cx="70672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E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85-95%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upload/slides/dark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73563" y="457200"/>
            <a:ext cx="3796725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Opportunity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317950" y="996851"/>
            <a:ext cx="507950" cy="38100"/>
          </a:xfrm>
          <a:prstGeom prst="rect">
            <a:avLst/>
          </a:prstGeom>
          <a:solidFill>
            <a:srgbClr val="00F5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9600" y="1288852"/>
            <a:ext cx="1828949" cy="1638300"/>
          </a:xfrm>
          <a:prstGeom prst="roundRect">
            <a:avLst>
              <a:gd name="adj" fmla="val 7752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95508" y="1603177"/>
            <a:ext cx="2057132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$10.3B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890015" y="2212777"/>
            <a:ext cx="1267971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Annotation Market by 2028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641699" y="1288852"/>
            <a:ext cx="1828800" cy="1638300"/>
          </a:xfrm>
          <a:prstGeom prst="roundRect">
            <a:avLst>
              <a:gd name="adj" fmla="val 7752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631222" y="1603177"/>
            <a:ext cx="1849606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28.2%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2745991" y="2212777"/>
            <a:ext cx="1620069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CAGR Growth Rate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673650" y="1288852"/>
            <a:ext cx="1828800" cy="1638300"/>
          </a:xfrm>
          <a:prstGeom prst="roundRect">
            <a:avLst>
              <a:gd name="adj" fmla="val 7752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927967" y="1603177"/>
            <a:ext cx="1320165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90%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4903280" y="2212777"/>
            <a:ext cx="136939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Reduction vs Manual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705600" y="1288852"/>
            <a:ext cx="1828800" cy="1638300"/>
          </a:xfrm>
          <a:prstGeom prst="roundRect">
            <a:avLst>
              <a:gd name="adj" fmla="val 7752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7082433" y="1603177"/>
            <a:ext cx="1075134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5E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10x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6744373" y="2212777"/>
            <a:ext cx="1751255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 Improvement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09600" y="3384352"/>
            <a:ext cx="3860750" cy="1362075"/>
          </a:xfrm>
          <a:prstGeom prst="rect">
            <a:avLst/>
          </a:prstGeom>
          <a:solidFill>
            <a:srgbClr val="00F5A0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628650" y="3384352"/>
            <a:ext cx="0" cy="1362075"/>
          </a:xfrm>
          <a:prstGeom prst="line">
            <a:avLst/>
          </a:prstGeom>
          <a:noFill/>
          <a:ln w="38100">
            <a:solidFill>
              <a:srgbClr val="00F5A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50850" y="3536752"/>
            <a:ext cx="1557198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Segments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50850" y="3765352"/>
            <a:ext cx="3488092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AI/ML labs, enterprise data teams, research institutions, LLM training platforms, and government agencies needing large-scale labeled datasets.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673501" y="3384352"/>
            <a:ext cx="3860899" cy="1362075"/>
          </a:xfrm>
          <a:prstGeom prst="rect">
            <a:avLst/>
          </a:prstGeom>
          <a:solidFill>
            <a:srgbClr val="A855F7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4692551" y="3384352"/>
            <a:ext cx="0" cy="1362075"/>
          </a:xfrm>
          <a:prstGeom prst="line">
            <a:avLst/>
          </a:prstGeom>
          <a:noFill/>
          <a:ln w="38100">
            <a:solidFill>
              <a:srgbClr val="A855F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14751" y="3536752"/>
            <a:ext cx="1526387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Model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914751" y="3765352"/>
            <a:ext cx="3446056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Usage-based API pricing (per annotation), enterprise subscriptions with SLAs, custom deployment licenses for on-premise security, and premium domain templates.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0D13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3930923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Advantage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1554510"/>
            <a:ext cx="8128099" cy="2745581"/>
          </a:xfrm>
          <a:prstGeom prst="roundRect">
            <a:avLst>
              <a:gd name="adj" fmla="val 3701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7475" y="1564035"/>
            <a:ext cx="8109049" cy="403027"/>
          </a:xfrm>
          <a:prstGeom prst="rect">
            <a:avLst/>
          </a:prstGeom>
          <a:solidFill>
            <a:srgbClr val="00F5A0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9875" y="1675061"/>
            <a:ext cx="6489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F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93611" y="1675061"/>
            <a:ext cx="81318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CubicZan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53136" y="1675061"/>
            <a:ext cx="650081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>
                    <a:alpha val="4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628" y="1675061"/>
            <a:ext cx="1464999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>
                    <a:alpha val="4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Labelbox / Snorkel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7475" y="1971824"/>
            <a:ext cx="8109049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9875" y="2074962"/>
            <a:ext cx="54270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6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44799" y="2074962"/>
            <a:ext cx="111095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3-8 sec / label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34126" y="2074962"/>
            <a:ext cx="888251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4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15-45 min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0526" y="2074962"/>
            <a:ext cx="123720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4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Needs humans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7475" y="2354312"/>
            <a:ext cx="8109049" cy="387251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17475" y="2359075"/>
            <a:ext cx="8109049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9875" y="2462213"/>
            <a:ext cx="118719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6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per Label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45053" y="2462213"/>
            <a:ext cx="71044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~$0.001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1702" y="2462213"/>
            <a:ext cx="1032951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4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$0.10-$2.00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44286" y="2462213"/>
            <a:ext cx="116968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4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$0.05-$0.50+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17475" y="2746325"/>
            <a:ext cx="8109049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9875" y="2849463"/>
            <a:ext cx="113736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6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Long-Context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943725" y="2849463"/>
            <a:ext cx="91295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32K tokens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60079" y="2849463"/>
            <a:ext cx="63634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4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Fatigue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38305" y="2849463"/>
            <a:ext cx="78164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4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&lt;4K only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7475" y="3128814"/>
            <a:ext cx="8109049" cy="387251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517475" y="3133576"/>
            <a:ext cx="8109049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9875" y="3236714"/>
            <a:ext cx="856851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6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Multi-Task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71404" y="3236714"/>
            <a:ext cx="125759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8+ tasks unified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09866" y="3236714"/>
            <a:ext cx="113677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4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Per-task hiring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70528" y="3236714"/>
            <a:ext cx="91719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4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Single-task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17475" y="3520827"/>
            <a:ext cx="8109049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9875" y="3623965"/>
            <a:ext cx="12796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6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Fine-Tuning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839087" y="3623965"/>
            <a:ext cx="112223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Zero-shot ICL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01726" y="3623965"/>
            <a:ext cx="352901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4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N/A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18259" y="3623965"/>
            <a:ext cx="122188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4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Needs training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7475" y="3903315"/>
            <a:ext cx="8109049" cy="387251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517475" y="3908078"/>
            <a:ext cx="8109049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9875" y="4011216"/>
            <a:ext cx="83678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6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938742" y="4011216"/>
            <a:ext cx="922919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 GPU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7090" y="4011216"/>
            <a:ext cx="120232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4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People + tools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140029" y="4011216"/>
            <a:ext cx="137819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4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+ humans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upload/slides/dark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3301901" cy="5143500"/>
          </a:xfrm>
          <a:prstGeom prst="rect">
            <a:avLst/>
          </a:prstGeom>
          <a:solidFill>
            <a:srgbClr val="00F5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06301" y="1593205"/>
            <a:ext cx="3236089" cy="599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70"/>
              </a:lnSpc>
              <a:buNone/>
            </a:pPr>
            <a:r>
              <a:rPr lang="en-US" sz="3800" b="1" dirty="0">
                <a:solidFill>
                  <a:srgbClr val="0507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Traction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406301" y="2148185"/>
            <a:ext cx="3236089" cy="599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70"/>
              </a:lnSpc>
              <a:buNone/>
            </a:pPr>
            <a:r>
              <a:rPr lang="en-US" sz="3800" b="1" dirty="0">
                <a:solidFill>
                  <a:srgbClr val="0507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06301" y="2703165"/>
            <a:ext cx="3086731" cy="599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70"/>
              </a:lnSpc>
              <a:buNone/>
            </a:pPr>
            <a:r>
              <a:rPr lang="en-US" sz="3800" b="1" dirty="0">
                <a:solidFill>
                  <a:srgbClr val="0507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406301" y="3512046"/>
            <a:ext cx="406301" cy="38100"/>
          </a:xfrm>
          <a:prstGeom prst="rect">
            <a:avLst/>
          </a:prstGeom>
          <a:solidFill>
            <a:srgbClr val="050710">
              <a:alpha val="4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759101" y="603349"/>
            <a:ext cx="50750" cy="507950"/>
          </a:xfrm>
          <a:prstGeom prst="roundRect">
            <a:avLst>
              <a:gd name="adj" fmla="val 50049"/>
            </a:avLst>
          </a:prstGeom>
          <a:solidFill>
            <a:srgbClr val="00F5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936802" y="552599"/>
            <a:ext cx="3768135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FLAGOS Open Computing Hackathon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936802" y="809774"/>
            <a:ext cx="4974215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Competing in Track 3: LLM Automatic Data Annotation in Long-Context Scenarios on Kaggle. Submitted and on the leaderboard.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759101" y="1485900"/>
            <a:ext cx="50750" cy="507950"/>
          </a:xfrm>
          <a:prstGeom prst="roundRect">
            <a:avLst>
              <a:gd name="adj" fmla="val 50049"/>
            </a:avLst>
          </a:prstGeom>
          <a:solidFill>
            <a:srgbClr val="00F5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936802" y="1435150"/>
            <a:ext cx="2605281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Open-Source on GitHub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936802" y="1692325"/>
            <a:ext cx="4646362" cy="70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codebase publicly available with ICL annotation engine, Kaggle notebook, solver script, and 10-page technical report with ablation studies.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759101" y="2597051"/>
            <a:ext cx="50750" cy="507950"/>
          </a:xfrm>
          <a:prstGeom prst="roundRect">
            <a:avLst>
              <a:gd name="adj" fmla="val 50049"/>
            </a:avLst>
          </a:prstGeom>
          <a:solidFill>
            <a:srgbClr val="A85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3936802" y="2546300"/>
            <a:ext cx="3380455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Proven Cross-Task Performance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936802" y="2803475"/>
            <a:ext cx="4556038" cy="70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Validated across 8 diverse task types (math, NLP, code, QA, classification, NLI, summarization, knowledge retrieval) with 3,600+ test samples.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759101" y="3708202"/>
            <a:ext cx="50750" cy="507950"/>
          </a:xfrm>
          <a:prstGeom prst="roundRect">
            <a:avLst>
              <a:gd name="adj" fmla="val 50049"/>
            </a:avLst>
          </a:prstGeom>
          <a:solidFill>
            <a:srgbClr val="FF5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936802" y="3657451"/>
            <a:ext cx="3398639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on FlagOS / Qwen3-4B Stack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3936802" y="3914626"/>
            <a:ext cx="4902331" cy="70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Leverages FlagScale distributed inference framework, 4-bit quantization via bitsandbytes, and runs efficiently on consumer-grade GPU hardware.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0D13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2731457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Model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914251"/>
            <a:ext cx="2607766" cy="4026098"/>
          </a:xfrm>
          <a:prstGeom prst="roundRect">
            <a:avLst>
              <a:gd name="adj" fmla="val 4870"/>
            </a:avLst>
          </a:prstGeom>
          <a:solidFill>
            <a:srgbClr val="00F5A0">
              <a:alpha val="6000"/>
            </a:srgbClr>
          </a:solidFill>
          <a:ln w="9525">
            <a:solidFill>
              <a:srgbClr val="00F5A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/home/z/my-project/upload/slides/icon-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176" y="1126927"/>
            <a:ext cx="253901" cy="2539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0578" y="1134814"/>
            <a:ext cx="176583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F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Pay-Per-Label API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95176" y="1482328"/>
            <a:ext cx="3081974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$0.001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95176" y="1907679"/>
            <a:ext cx="276931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FFFFFF">
                    <a:alpha val="5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 annotation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95176" y="2199680"/>
            <a:ext cx="2233315" cy="100712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minimum commitment</a:t>
            </a:r>
            <a:endParaRPr lang="en-US" sz="1100" dirty="0"/>
          </a:p>
          <a:p>
            <a:pPr algn="l" marL="88900" indent="-889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RESTful API access</a:t>
            </a:r>
            <a:endParaRPr lang="en-US" sz="1100" dirty="0"/>
          </a:p>
          <a:p>
            <a:pPr algn="l" marL="88900" indent="-889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8+ task types included</a:t>
            </a:r>
            <a:endParaRPr lang="en-US" sz="1100" dirty="0"/>
          </a:p>
          <a:p>
            <a:pPr algn="l" marL="88900" indent="-889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Confidence scores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268117" y="914251"/>
            <a:ext cx="2607766" cy="4026098"/>
          </a:xfrm>
          <a:prstGeom prst="roundRect">
            <a:avLst>
              <a:gd name="adj" fmla="val 4870"/>
            </a:avLst>
          </a:prstGeom>
          <a:solidFill>
            <a:srgbClr val="A855F7">
              <a:alpha val="6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1" descr="/home/z/my-project/upload/slides/icon-rock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5343" y="1126927"/>
            <a:ext cx="253901" cy="25390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10744" y="1134814"/>
            <a:ext cx="149713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 Plan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455343" y="1482328"/>
            <a:ext cx="2903309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3455343" y="1907679"/>
            <a:ext cx="263531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FFFFFF">
                    <a:alpha val="5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subscription pricing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455343" y="2199680"/>
            <a:ext cx="2233315" cy="100712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Unlimited annotations</a:t>
            </a:r>
            <a:endParaRPr lang="en-US" sz="1100" dirty="0"/>
          </a:p>
          <a:p>
            <a:pPr algn="l" marL="88900" indent="-889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SLA guarantee 99.9%</a:t>
            </a:r>
            <a:endParaRPr lang="en-US" sz="1100" dirty="0"/>
          </a:p>
          <a:p>
            <a:pPr algn="l" marL="88900" indent="-889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Dedicated support</a:t>
            </a:r>
            <a:endParaRPr lang="en-US" sz="1100" dirty="0"/>
          </a:p>
          <a:p>
            <a:pPr algn="l" marL="88900" indent="-889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 fine-tuning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028283" y="914251"/>
            <a:ext cx="2607766" cy="4026098"/>
          </a:xfrm>
          <a:prstGeom prst="roundRect">
            <a:avLst>
              <a:gd name="adj" fmla="val 4870"/>
            </a:avLst>
          </a:prstGeom>
          <a:solidFill>
            <a:srgbClr val="FF5E3A">
              <a:alpha val="6000"/>
            </a:srgbClr>
          </a:solidFill>
          <a:ln w="9525">
            <a:solidFill>
              <a:srgbClr val="FF5E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2" descr="/home/z/my-project/upload/slides/icon-co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509" y="1126927"/>
            <a:ext cx="253901" cy="25390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70911" y="1134814"/>
            <a:ext cx="197832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5E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On-Premise License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215509" y="1482328"/>
            <a:ext cx="2903309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</a:t>
            </a:r>
            <a:endParaRPr lang="en-US" sz="2400" dirty="0"/>
          </a:p>
        </p:txBody>
      </p:sp>
      <p:sp>
        <p:nvSpPr>
          <p:cNvPr id="20" name="Text 15"/>
          <p:cNvSpPr/>
          <p:nvPr/>
        </p:nvSpPr>
        <p:spPr>
          <a:xfrm>
            <a:off x="6215509" y="1907679"/>
            <a:ext cx="263531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FFFFFF">
                    <a:alpha val="5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license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215509" y="2199680"/>
            <a:ext cx="2233315" cy="100712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data sovereignty</a:t>
            </a:r>
            <a:endParaRPr lang="en-US" sz="1100" dirty="0"/>
          </a:p>
          <a:p>
            <a:pPr algn="l" marL="88900" indent="-889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Self-hosted deployment</a:t>
            </a:r>
            <a:endParaRPr lang="en-US" sz="1100" dirty="0"/>
          </a:p>
          <a:p>
            <a:pPr algn="l" marL="88900" indent="-889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 templates</a:t>
            </a:r>
            <a:endParaRPr lang="en-US" sz="1100" dirty="0"/>
          </a:p>
          <a:p>
            <a:pPr algn="l" marL="88900" indent="-889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Priority updates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0D13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4192860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Quarterly Roadmap 2026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914251"/>
            <a:ext cx="2624733" cy="3496121"/>
          </a:xfrm>
          <a:prstGeom prst="roundRect">
            <a:avLst>
              <a:gd name="adj" fmla="val 4839"/>
            </a:avLst>
          </a:prstGeom>
          <a:solidFill>
            <a:srgbClr val="1620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7950" y="938064"/>
            <a:ext cx="2624733" cy="0"/>
          </a:xfrm>
          <a:prstGeom prst="line">
            <a:avLst/>
          </a:prstGeom>
          <a:noFill/>
          <a:ln w="47625">
            <a:solidFill>
              <a:srgbClr val="00F5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651" y="1139577"/>
            <a:ext cx="2950131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F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651" y="1434852"/>
            <a:ext cx="2813971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651" y="1685627"/>
            <a:ext cx="2269331" cy="1258907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Launch API v1.0 beta</a:t>
            </a:r>
            <a:endParaRPr lang="en-US" sz="1100" dirty="0"/>
          </a:p>
          <a:p>
            <a:pPr algn="l" marL="88900" indent="-889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Open-source SDK release</a:t>
            </a:r>
            <a:endParaRPr lang="en-US" sz="1100" dirty="0"/>
          </a:p>
          <a:p>
            <a:pPr algn="l" marL="88900" indent="-889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Kaggle final submission</a:t>
            </a:r>
            <a:endParaRPr lang="en-US" sz="1100" dirty="0"/>
          </a:p>
          <a:p>
            <a:pPr algn="l" marL="88900" indent="-889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paper</a:t>
            </a:r>
            <a:endParaRPr lang="en-US" sz="1100" dirty="0"/>
          </a:p>
          <a:p>
            <a:pPr algn="l" marL="88900" indent="-889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First 10 beta users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59634" y="914251"/>
            <a:ext cx="2624733" cy="3496121"/>
          </a:xfrm>
          <a:prstGeom prst="roundRect">
            <a:avLst>
              <a:gd name="adj" fmla="val 4839"/>
            </a:avLst>
          </a:prstGeom>
          <a:solidFill>
            <a:srgbClr val="1620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259634" y="938064"/>
            <a:ext cx="2624733" cy="0"/>
          </a:xfrm>
          <a:prstGeom prst="line">
            <a:avLst/>
          </a:prstGeom>
          <a:noFill/>
          <a:ln w="47625">
            <a:solidFill>
              <a:srgbClr val="A85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37334" y="1139577"/>
            <a:ext cx="2950131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 2026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37334" y="1434852"/>
            <a:ext cx="2950131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Growth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37334" y="1685627"/>
            <a:ext cx="2269331" cy="1258907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Multi-model support</a:t>
            </a:r>
            <a:endParaRPr lang="en-US" sz="1100" dirty="0"/>
          </a:p>
          <a:p>
            <a:pPr algn="l" marL="88900" indent="-889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 dashboard</a:t>
            </a:r>
            <a:endParaRPr lang="en-US" sz="1100" dirty="0"/>
          </a:p>
          <a:p>
            <a:pPr algn="l" marL="88900" indent="-889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50+ active users</a:t>
            </a:r>
            <a:endParaRPr lang="en-US" sz="1100" dirty="0"/>
          </a:p>
          <a:p>
            <a:pPr algn="l" marL="88900" indent="-889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First enterprise deal</a:t>
            </a:r>
            <a:endParaRPr lang="en-US" sz="1100" dirty="0"/>
          </a:p>
          <a:p>
            <a:pPr algn="l" marL="88900" indent="-889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Medical / Legal domains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11317" y="914251"/>
            <a:ext cx="2624733" cy="3496121"/>
          </a:xfrm>
          <a:prstGeom prst="roundRect">
            <a:avLst>
              <a:gd name="adj" fmla="val 4839"/>
            </a:avLst>
          </a:prstGeom>
          <a:solidFill>
            <a:srgbClr val="1620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011317" y="938064"/>
            <a:ext cx="2624733" cy="0"/>
          </a:xfrm>
          <a:prstGeom prst="line">
            <a:avLst/>
          </a:prstGeom>
          <a:noFill/>
          <a:ln w="47625">
            <a:solidFill>
              <a:srgbClr val="FF5E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89018" y="1139577"/>
            <a:ext cx="2950131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5E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 2026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89018" y="1434852"/>
            <a:ext cx="2950131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89018" y="1685627"/>
            <a:ext cx="2269331" cy="1258907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Active learning loop</a:t>
            </a:r>
            <a:endParaRPr lang="en-US" sz="1100" dirty="0"/>
          </a:p>
          <a:p>
            <a:pPr algn="l" marL="88900" indent="-889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128K context support</a:t>
            </a:r>
            <a:endParaRPr lang="en-US" sz="1100" dirty="0"/>
          </a:p>
          <a:p>
            <a:pPr algn="l" marL="88900" indent="-889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200+ users, $50K ARR</a:t>
            </a:r>
            <a:endParaRPr lang="en-US" sz="1100" dirty="0"/>
          </a:p>
          <a:p>
            <a:pPr algn="l" marL="88900" indent="-889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Seed funding round</a:t>
            </a:r>
            <a:endParaRPr lang="en-US" sz="1100" dirty="0"/>
          </a:p>
          <a:p>
            <a:pPr algn="l" marL="88900" indent="-889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to 5 people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7950" y="4562773"/>
            <a:ext cx="4000500" cy="403027"/>
          </a:xfrm>
          <a:prstGeom prst="roundRect">
            <a:avLst>
              <a:gd name="adj" fmla="val 18907"/>
            </a:avLst>
          </a:prstGeom>
          <a:solidFill>
            <a:srgbClr val="00F5A0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140809" y="4673798"/>
            <a:ext cx="96536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5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North Star: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53504" y="4673798"/>
            <a:ext cx="208791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Monthly Annotated Labels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35401" y="4562773"/>
            <a:ext cx="4000649" cy="403027"/>
          </a:xfrm>
          <a:prstGeom prst="roundRect">
            <a:avLst>
              <a:gd name="adj" fmla="val 18907"/>
            </a:avLst>
          </a:prstGeom>
          <a:solidFill>
            <a:srgbClr val="A855F7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197102" y="4673798"/>
            <a:ext cx="106243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5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2026 Target: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93389" y="4673798"/>
            <a:ext cx="214147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1M+ Labels / Month by Q4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upload/slides/closing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00F5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08450" y="853678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00F5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3016642" y="1285429"/>
            <a:ext cx="3110716" cy="625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6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267200" y="2118420"/>
            <a:ext cx="609600" cy="38100"/>
          </a:xfrm>
          <a:prstGeom prst="rect">
            <a:avLst/>
          </a:prstGeom>
          <a:solidFill>
            <a:srgbClr val="00F5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504902" y="2410420"/>
            <a:ext cx="6134048" cy="658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2800"/>
              </a:spcAft>
              <a:buNone/>
            </a:pPr>
            <a:r>
              <a:rPr lang="en-US" sz="1600" dirty="0">
                <a:solidFill>
                  <a:srgbClr val="FFFFFF">
                    <a:alpha val="7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the future of intelligent data annotation. Let's transform how AI models learn.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054444" y="3384798"/>
            <a:ext cx="78125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FFFFFF">
                    <a:alpha val="4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379077" y="3575298"/>
            <a:ext cx="2131993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F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github.com/zan-maker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234895" y="3384798"/>
            <a:ext cx="88728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FFFFFF">
                    <a:alpha val="4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88481" y="3575298"/>
            <a:ext cx="2180112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F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CubicZan Agent Swarm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042791" y="4149923"/>
            <a:ext cx="33642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800"/>
              </a:spcBef>
              <a:buNone/>
            </a:pPr>
            <a:r>
              <a:rPr lang="en-US" sz="1100" dirty="0">
                <a:solidFill>
                  <a:srgbClr val="FFFFFF">
                    <a:alpha val="3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Supermoon 2026  ·  Growth Engine Application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CubicZan Agent Swarm - Growth Engine Application</dc:title>
  <dc:subject>Supermoon 2026</dc:subject>
  <dc:creator>CubicZan</dc:creator>
  <cp:lastModifiedBy>CubicZan</cp:lastModifiedBy>
  <cp:revision>1</cp:revision>
  <dcterms:created xsi:type="dcterms:W3CDTF">2026-04-17T11:40:32Z</dcterms:created>
  <dcterms:modified xsi:type="dcterms:W3CDTF">2026-04-17T11:40:32Z</dcterms:modified>
</cp:coreProperties>
</file>