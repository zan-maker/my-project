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upload/slide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710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87301" y="85040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787301" y="1231255"/>
            <a:ext cx="7342650" cy="662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30"/>
              </a:lnSpc>
              <a:spcAft>
                <a:spcPts val="600"/>
              </a:spcAft>
              <a:buNone/>
            </a:pPr>
            <a:r>
              <a:rPr lang="en-US" sz="4200" b="1" spc="-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CubicZan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87301" y="1920776"/>
            <a:ext cx="7021074" cy="662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30"/>
              </a:lnSpc>
              <a:spcAft>
                <a:spcPts val="1600"/>
              </a:spcAft>
              <a:buNone/>
            </a:pPr>
            <a:r>
              <a:rPr lang="en-US" sz="4200" b="1" spc="-50" kern="0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Swarm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787301" y="2737247"/>
            <a:ext cx="5627578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spcAft>
                <a:spcPts val="2800"/>
              </a:spcAft>
              <a:buNone/>
            </a:pPr>
            <a:r>
              <a:rPr lang="en-US" sz="17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 AI agent swarm for intelligent data annotation, accelerating LLM training pipelines by 10x.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87301" y="4064347"/>
            <a:ext cx="58955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spc="100" kern="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SUPERMOON 2026  ·  GROWTH ENGINE APPLICATION</a:t>
            </a:r>
            <a:endParaRPr lang="en-US" sz="1200" dirty="0"/>
          </a:p>
        </p:txBody>
      </p:sp>
      <p:pic>
        <p:nvPicPr>
          <p:cNvPr id="10" name="Image 1" descr="/home/z/my-project/upload/slides/logo-20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809750"/>
            <a:ext cx="1524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upload/slides/dark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600" y="406301"/>
            <a:ext cx="2873713" cy="50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09600" y="974527"/>
            <a:ext cx="507950" cy="38100"/>
          </a:xfrm>
          <a:prstGeom prst="rect">
            <a:avLst/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09600" y="1215777"/>
            <a:ext cx="7924800" cy="1393180"/>
          </a:xfrm>
          <a:prstGeom prst="roundRect">
            <a:avLst>
              <a:gd name="adj" fmla="val 729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73026" y="140300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5E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998637" y="1461641"/>
            <a:ext cx="14397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80976" y="1403003"/>
            <a:ext cx="4547562" cy="29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Annotation Is the #1 AI Bottleneck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80976" y="1688753"/>
            <a:ext cx="7175116" cy="771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annotators take 15-45 minutes per long-context document. At $0.10-$2.00 per label, enterprise-scale annotation costs millions annually and cannot scale with model data demands.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09600" y="2761357"/>
            <a:ext cx="7924800" cy="1393180"/>
          </a:xfrm>
          <a:prstGeom prst="roundRect">
            <a:avLst>
              <a:gd name="adj" fmla="val 729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873026" y="294858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5E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98637" y="3007221"/>
            <a:ext cx="14397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380976" y="2948583"/>
            <a:ext cx="4296594" cy="29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Long-Context Exacerbates Inconsistency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80976" y="3234333"/>
            <a:ext cx="7061976" cy="771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Inter-annotator agreement drops below 70% for complex tasks spanning 4K+ tokens. Fatigue, ambiguity, and cognitive load produce noisy labels that degrade model performance.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09600" y="4306937"/>
            <a:ext cx="7924800" cy="1393180"/>
          </a:xfrm>
          <a:prstGeom prst="roundRect">
            <a:avLst>
              <a:gd name="adj" fmla="val 729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73026" y="449416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5E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998637" y="4552801"/>
            <a:ext cx="14397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80976" y="4494163"/>
            <a:ext cx="3963933" cy="29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Unified Cross-Task Solution Exists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80976" y="4779913"/>
            <a:ext cx="7178397" cy="363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tools are task-specific: NER annotators cannot do classification, QA labelers cannot evaluate code. Teams juggle 5-10 specialized tools, fragmenting workflows and increasing overhead.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09600" y="5852517"/>
            <a:ext cx="7924800" cy="1393180"/>
          </a:xfrm>
          <a:prstGeom prst="roundRect">
            <a:avLst>
              <a:gd name="adj" fmla="val 729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73026" y="603974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5E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998637" y="6098381"/>
            <a:ext cx="14397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380976" y="6039743"/>
            <a:ext cx="276509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Market Is Exploding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380976" y="6325493"/>
            <a:ext cx="7200587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global data annotation market is projected to reach $10.3B by 2028 (CAGR 28.2%), driven by LLM training demands. Supply of qualified annotators cannot keep pace with demand.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49461"/>
          </a:xfrm>
          <a:prstGeom prst="rect">
            <a:avLst/>
          </a:prstGeom>
          <a:solidFill>
            <a:srgbClr val="0D13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50155"/>
            <a:ext cx="6348636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Solution: Intelligent Agent Swarm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449461"/>
            <a:ext cx="1790700" cy="4533602"/>
          </a:xfrm>
          <a:prstGeom prst="roundRect">
            <a:avLst>
              <a:gd name="adj" fmla="val 7092"/>
            </a:avLst>
          </a:prstGeom>
          <a:solidFill>
            <a:srgbClr val="1620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25600" y="703362"/>
            <a:ext cx="558701" cy="558701"/>
          </a:xfrm>
          <a:prstGeom prst="roundRect">
            <a:avLst>
              <a:gd name="adj" fmla="val 22731"/>
            </a:avLst>
          </a:prstGeom>
          <a:solidFill>
            <a:srgbClr val="00F5A0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home/z/my-project/upload/slides/icon-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9900" y="817662"/>
            <a:ext cx="330101" cy="33010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8140" y="1414463"/>
            <a:ext cx="1453619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ICL-Powered Reasoning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8140" y="1985963"/>
            <a:ext cx="1453619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 Qwen3-4B with in-context learning to reason through each annotation decision step-by-step, matching expert-level judgment without fine-tuning.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654201" y="449461"/>
            <a:ext cx="1790849" cy="4533602"/>
          </a:xfrm>
          <a:prstGeom prst="roundRect">
            <a:avLst>
              <a:gd name="adj" fmla="val 7092"/>
            </a:avLst>
          </a:prstGeom>
          <a:solidFill>
            <a:srgbClr val="1620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3270200" y="703362"/>
            <a:ext cx="558701" cy="558701"/>
          </a:xfrm>
          <a:prstGeom prst="roundRect">
            <a:avLst>
              <a:gd name="adj" fmla="val 22731"/>
            </a:avLst>
          </a:prstGeom>
          <a:solidFill>
            <a:srgbClr val="00F5A0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1" descr="/home/z/my-project/upload/slides/icon-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500" y="817662"/>
            <a:ext cx="330101" cy="33010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22737" y="1414463"/>
            <a:ext cx="1453775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Multi-Task Swarm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2822737" y="1985963"/>
            <a:ext cx="145377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single deployment handles 8+ diverse tasks: math, NLP, code, QA, classification, summarization, NLI, and knowledge retrieval, all from one unified pipeline.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98950" y="449461"/>
            <a:ext cx="1790700" cy="4533602"/>
          </a:xfrm>
          <a:prstGeom prst="roundRect">
            <a:avLst>
              <a:gd name="adj" fmla="val 7092"/>
            </a:avLst>
          </a:prstGeom>
          <a:solidFill>
            <a:srgbClr val="1620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5314950" y="703362"/>
            <a:ext cx="558701" cy="558701"/>
          </a:xfrm>
          <a:prstGeom prst="roundRect">
            <a:avLst>
              <a:gd name="adj" fmla="val 22731"/>
            </a:avLst>
          </a:prstGeom>
          <a:solidFill>
            <a:srgbClr val="00F5A0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home/z/my-project/upload/slides/icon-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0" y="817662"/>
            <a:ext cx="330101" cy="33010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67491" y="1414463"/>
            <a:ext cx="1453619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Self-Consistency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867491" y="1985963"/>
            <a:ext cx="1453619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 inference passes with varied temperature settings aggregated via majority voting eliminate hallucinations and produce robust, validated annotations.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743551" y="449461"/>
            <a:ext cx="1790849" cy="4533602"/>
          </a:xfrm>
          <a:prstGeom prst="roundRect">
            <a:avLst>
              <a:gd name="adj" fmla="val 7092"/>
            </a:avLst>
          </a:prstGeom>
          <a:solidFill>
            <a:srgbClr val="1620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7359551" y="703362"/>
            <a:ext cx="558701" cy="558701"/>
          </a:xfrm>
          <a:prstGeom prst="roundRect">
            <a:avLst>
              <a:gd name="adj" fmla="val 22731"/>
            </a:avLst>
          </a:prstGeom>
          <a:solidFill>
            <a:srgbClr val="00F5A0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home/z/my-project/upload/slides/icon-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3851" y="817662"/>
            <a:ext cx="330101" cy="33010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12088" y="1414463"/>
            <a:ext cx="1453775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32K Context Window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912088" y="1985963"/>
            <a:ext cx="14537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support for up to 32,000 tokens with intelligent chunking and truncation, preserving the most semantically relevant portions of any document.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upload/slides/dark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673563" y="457200"/>
            <a:ext cx="3796725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317950" y="996851"/>
            <a:ext cx="507950" cy="38100"/>
          </a:xfrm>
          <a:prstGeom prst="rect">
            <a:avLst/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09600" y="1288852"/>
            <a:ext cx="1828949" cy="1638300"/>
          </a:xfrm>
          <a:prstGeom prst="roundRect">
            <a:avLst>
              <a:gd name="adj" fmla="val 775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95508" y="1603177"/>
            <a:ext cx="2057132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$10.3B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90015" y="2212777"/>
            <a:ext cx="1267971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Annotation Market by 2028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641699" y="1288852"/>
            <a:ext cx="1828800" cy="1638300"/>
          </a:xfrm>
          <a:prstGeom prst="roundRect">
            <a:avLst>
              <a:gd name="adj" fmla="val 775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631222" y="1603177"/>
            <a:ext cx="184960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28.2%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2745991" y="2212777"/>
            <a:ext cx="1620069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CAGR Growth Rate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73650" y="1288852"/>
            <a:ext cx="1828800" cy="1638300"/>
          </a:xfrm>
          <a:prstGeom prst="roundRect">
            <a:avLst>
              <a:gd name="adj" fmla="val 775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927967" y="1603177"/>
            <a:ext cx="1320165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4903280" y="2212777"/>
            <a:ext cx="136939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Reduction vs Manual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705600" y="1288852"/>
            <a:ext cx="1828800" cy="1638300"/>
          </a:xfrm>
          <a:prstGeom prst="roundRect">
            <a:avLst>
              <a:gd name="adj" fmla="val 775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7082433" y="1603177"/>
            <a:ext cx="1075134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5E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10x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6744373" y="2212777"/>
            <a:ext cx="175125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Improvement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09600" y="3384352"/>
            <a:ext cx="3860750" cy="1362075"/>
          </a:xfrm>
          <a:prstGeom prst="rect">
            <a:avLst/>
          </a:prstGeom>
          <a:solidFill>
            <a:srgbClr val="00F5A0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628650" y="3384352"/>
            <a:ext cx="0" cy="1362075"/>
          </a:xfrm>
          <a:prstGeom prst="line">
            <a:avLst/>
          </a:prstGeom>
          <a:noFill/>
          <a:ln w="38100">
            <a:solidFill>
              <a:srgbClr val="00F5A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0850" y="3536752"/>
            <a:ext cx="1557198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Target Segments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50850" y="3765352"/>
            <a:ext cx="348809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AI/ML labs, enterprise data teams, research institutions, LLM training platforms, and government agencies needing large-scale labeled datasets.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673501" y="3384352"/>
            <a:ext cx="3860899" cy="1362075"/>
          </a:xfrm>
          <a:prstGeom prst="rect">
            <a:avLst/>
          </a:prstGeom>
          <a:solidFill>
            <a:srgbClr val="A855F7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4692551" y="3384352"/>
            <a:ext cx="0" cy="1362075"/>
          </a:xfrm>
          <a:prstGeom prst="line">
            <a:avLst/>
          </a:prstGeom>
          <a:noFill/>
          <a:ln w="38100">
            <a:solidFill>
              <a:srgbClr val="A855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14751" y="3536752"/>
            <a:ext cx="1526387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Model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914751" y="3765352"/>
            <a:ext cx="3446056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Usage-based API pricing (per annotation), enterprise subscriptions with SLAs, custom deployment licenses for on-premise security, and premium domain templates.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0D13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930923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Advantage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1427708"/>
            <a:ext cx="7924800" cy="2948285"/>
          </a:xfrm>
          <a:prstGeom prst="roundRect">
            <a:avLst>
              <a:gd name="adj" fmla="val 4308"/>
            </a:avLst>
          </a:prstGeom>
          <a:noFill/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19125" y="1437233"/>
            <a:ext cx="7905750" cy="453926"/>
          </a:xfrm>
          <a:prstGeom prst="rect">
            <a:avLst/>
          </a:prstGeom>
          <a:solidFill>
            <a:srgbClr val="00F5A0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6826" y="1564184"/>
            <a:ext cx="708318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838201" y="1564184"/>
            <a:ext cx="2013100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CubicZan Agent Swarm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16562" y="1564184"/>
            <a:ext cx="1666080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>
                    <a:alpha val="5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Annotation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727993" y="1564184"/>
            <a:ext cx="1599170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>
                    <a:alpha val="5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Labelbox / Snorkel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125" y="1895921"/>
            <a:ext cx="79057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6826" y="2011710"/>
            <a:ext cx="5427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89200" y="2011710"/>
            <a:ext cx="111095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3-8 sec / label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3915" y="2011710"/>
            <a:ext cx="135137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15-45 min / label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07094" y="2011710"/>
            <a:ext cx="164096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 requires humans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9125" y="2303711"/>
            <a:ext cx="7905750" cy="412552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9125" y="2308473"/>
            <a:ext cx="79057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6826" y="2424261"/>
            <a:ext cx="118719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per Label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89454" y="2424261"/>
            <a:ext cx="71044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~$0.001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78588" y="2424261"/>
            <a:ext cx="114217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$0.10 - $2.00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88147" y="2424261"/>
            <a:ext cx="127871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$0.05 - $0.50+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9125" y="2721025"/>
            <a:ext cx="79057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6826" y="2836813"/>
            <a:ext cx="177215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Long-Context Support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47652" y="2836813"/>
            <a:ext cx="139404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32K tokens native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30522" y="2836813"/>
            <a:ext cx="12383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fatigue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66573" y="2836813"/>
            <a:ext cx="11218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Limited (&lt;4K)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9125" y="3128814"/>
            <a:ext cx="7905750" cy="412552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19125" y="3133576"/>
            <a:ext cx="79057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6826" y="3249364"/>
            <a:ext cx="16652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Multi-Task (8+ types)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21060" y="3249364"/>
            <a:ext cx="124723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Unified pipeline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81218" y="3249364"/>
            <a:ext cx="113677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Per-task hiring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5666" y="3249364"/>
            <a:ext cx="134382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Single-task focus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9125" y="3546128"/>
            <a:ext cx="79057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6826" y="3661916"/>
            <a:ext cx="189157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Fine-Tuning Needed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83637" y="3661916"/>
            <a:ext cx="112223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Zero-shot ICL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3226" y="3661916"/>
            <a:ext cx="35290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N/A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9003" y="3661916"/>
            <a:ext cx="133714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Requires training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19125" y="3953917"/>
            <a:ext cx="7905750" cy="412552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619125" y="3958679"/>
            <a:ext cx="79057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6826" y="4074468"/>
            <a:ext cx="151452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 Required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137102" y="4074468"/>
            <a:ext cx="141529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 GPU (4-bit)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48441" y="4074468"/>
            <a:ext cx="120232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People + tools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838480" y="4074468"/>
            <a:ext cx="137819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+ humans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upload/slides/dark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3301901" cy="5143500"/>
          </a:xfrm>
          <a:prstGeom prst="rect">
            <a:avLst/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6301" y="1593205"/>
            <a:ext cx="3236089" cy="59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0507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06301" y="2148185"/>
            <a:ext cx="3236089" cy="59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0507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06301" y="2703165"/>
            <a:ext cx="3086731" cy="59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0507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Validation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406301" y="3512046"/>
            <a:ext cx="406301" cy="38100"/>
          </a:xfrm>
          <a:prstGeom prst="rect">
            <a:avLst/>
          </a:prstGeom>
          <a:solidFill>
            <a:srgbClr val="050710">
              <a:alpha val="4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3759101" y="603349"/>
            <a:ext cx="50750" cy="507950"/>
          </a:xfrm>
          <a:prstGeom prst="roundRect">
            <a:avLst>
              <a:gd name="adj" fmla="val 50049"/>
            </a:avLst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3936802" y="552599"/>
            <a:ext cx="3768135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FLAGOS Open Computing Hackathon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936802" y="809774"/>
            <a:ext cx="4974215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Competing in Track 3: LLM Automatic Data Annotation in Long-Context Scenarios on Kaggle. Submitted and on the leaderboard.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759101" y="1485900"/>
            <a:ext cx="50750" cy="507950"/>
          </a:xfrm>
          <a:prstGeom prst="roundRect">
            <a:avLst>
              <a:gd name="adj" fmla="val 50049"/>
            </a:avLst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936802" y="1435150"/>
            <a:ext cx="2605281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on GitHub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936802" y="1692325"/>
            <a:ext cx="4646362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codebase publicly available with ICL annotation engine, Kaggle notebook, solver script, and 10-page technical report with ablation studies.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759101" y="2597051"/>
            <a:ext cx="50750" cy="507950"/>
          </a:xfrm>
          <a:prstGeom prst="roundRect">
            <a:avLst>
              <a:gd name="adj" fmla="val 50049"/>
            </a:avLst>
          </a:prstGeom>
          <a:solidFill>
            <a:srgbClr val="A855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3936802" y="2546300"/>
            <a:ext cx="3380455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 Cross-Task Performance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936802" y="2803475"/>
            <a:ext cx="4556038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Validated across 8 diverse task types (math, NLP, code, QA, classification, NLI, summarization, knowledge retrieval) with 3,600+ test samples.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759101" y="3708202"/>
            <a:ext cx="50750" cy="507950"/>
          </a:xfrm>
          <a:prstGeom prst="roundRect">
            <a:avLst>
              <a:gd name="adj" fmla="val 50049"/>
            </a:avLst>
          </a:prstGeom>
          <a:solidFill>
            <a:srgbClr val="FF5E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3936802" y="3657451"/>
            <a:ext cx="3398639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on FlagOS / Qwen3-4B Stack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3936802" y="3914626"/>
            <a:ext cx="4902331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Leverages FlagScale distributed inference framework, 4-bit quantization via bitsandbytes, and runs efficiently on consumer-grade GPU hardware.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0D13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2731457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965002"/>
            <a:ext cx="2506117" cy="3873698"/>
          </a:xfrm>
          <a:prstGeom prst="roundRect">
            <a:avLst>
              <a:gd name="adj" fmla="val 5068"/>
            </a:avLst>
          </a:prstGeom>
          <a:solidFill>
            <a:srgbClr val="00F5A0">
              <a:alpha val="6000"/>
            </a:srgbClr>
          </a:solidFill>
          <a:ln w="9525">
            <a:solidFill>
              <a:srgbClr val="00F5A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" name="Image 0" descr="/home/z/my-project/upload/slides/icon-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275" y="1339602"/>
            <a:ext cx="279350" cy="2793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3127" y="1203127"/>
            <a:ext cx="1784911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Pay-Per-Label API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275" y="1882527"/>
            <a:ext cx="2871457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$0.001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22275" y="2371427"/>
            <a:ext cx="2580150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annotation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275" y="2698403"/>
            <a:ext cx="2080766" cy="100712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minimum commitment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 API access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8+ task types included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Confidence scores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18867" y="965002"/>
            <a:ext cx="2506266" cy="3873698"/>
          </a:xfrm>
          <a:prstGeom prst="roundRect">
            <a:avLst>
              <a:gd name="adj" fmla="val 5067"/>
            </a:avLst>
          </a:prstGeom>
          <a:solidFill>
            <a:srgbClr val="A855F7">
              <a:alpha val="6000"/>
            </a:srgbClr>
          </a:solidFill>
          <a:ln w="9525">
            <a:solidFill>
              <a:srgbClr val="A855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1" descr="/home/z/my-project/upload/slides/icon-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543" y="1203127"/>
            <a:ext cx="279350" cy="2793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12394" y="1204615"/>
            <a:ext cx="1711389" cy="29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 Plan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531543" y="1609427"/>
            <a:ext cx="270518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531543" y="2098328"/>
            <a:ext cx="2455480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 pricing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531543" y="2425303"/>
            <a:ext cx="2080915" cy="100712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Unlimited annotations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 guarantee (99.9%)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Dedicated support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model fine-tuning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028283" y="965002"/>
            <a:ext cx="2506117" cy="3873698"/>
          </a:xfrm>
          <a:prstGeom prst="roundRect">
            <a:avLst>
              <a:gd name="adj" fmla="val 5068"/>
            </a:avLst>
          </a:prstGeom>
          <a:solidFill>
            <a:srgbClr val="FF5E3A">
              <a:alpha val="6000"/>
            </a:srgbClr>
          </a:solidFill>
          <a:ln w="9525">
            <a:solidFill>
              <a:srgbClr val="FF5E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7" name="Image 2" descr="/home/z/my-project/upload/slides/icon-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959" y="1339602"/>
            <a:ext cx="279350" cy="27935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21810" y="1203127"/>
            <a:ext cx="1784911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5E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On-Premise License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240959" y="1882527"/>
            <a:ext cx="2704996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600" dirty="0"/>
          </a:p>
        </p:txBody>
      </p:sp>
      <p:sp>
        <p:nvSpPr>
          <p:cNvPr id="20" name="Text 15"/>
          <p:cNvSpPr/>
          <p:nvPr/>
        </p:nvSpPr>
        <p:spPr>
          <a:xfrm>
            <a:off x="6240959" y="2371427"/>
            <a:ext cx="2455304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license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240959" y="2698403"/>
            <a:ext cx="2080766" cy="100712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data sovereignty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Self-hosted deployment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domain templates</a:t>
            </a:r>
            <a:endParaRPr lang="en-US" sz="1100" dirty="0"/>
          </a:p>
          <a:p>
            <a:pPr algn="l" marL="101600" indent="-101600">
              <a:lnSpc>
                <a:spcPts val="187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Priority updates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0D13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4192860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Quarterly Roadmap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965002"/>
            <a:ext cx="2539901" cy="316587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9600" y="988814"/>
            <a:ext cx="2539901" cy="0"/>
          </a:xfrm>
          <a:prstGeom prst="line">
            <a:avLst/>
          </a:prstGeom>
          <a:noFill/>
          <a:ln w="47625">
            <a:solidFill>
              <a:srgbClr val="00F5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2750" y="1241227"/>
            <a:ext cx="277368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750" y="1580852"/>
            <a:ext cx="2645664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750" y="1857077"/>
            <a:ext cx="2133600" cy="159966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 API v1.0 beta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Open-source SDK release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Kaggle competition final submission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paper publication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10 beta users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01901" y="965002"/>
            <a:ext cx="2540050" cy="316587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01901" y="988814"/>
            <a:ext cx="2540050" cy="0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051" y="1241227"/>
            <a:ext cx="277387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A855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05051" y="1580852"/>
            <a:ext cx="2773873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05051" y="1857077"/>
            <a:ext cx="2133749" cy="186627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Multi-model support (Llama, Mistral)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 dashboard launch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50+ active users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enterprise contract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 specialization: Medical, Legal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94350" y="965002"/>
            <a:ext cx="2540050" cy="316587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94350" y="988814"/>
            <a:ext cx="2540050" cy="0"/>
          </a:xfrm>
          <a:prstGeom prst="line">
            <a:avLst/>
          </a:prstGeom>
          <a:noFill/>
          <a:ln w="47625">
            <a:solidFill>
              <a:srgbClr val="FF5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7501" y="1241227"/>
            <a:ext cx="277387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5E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 2026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97501" y="1580852"/>
            <a:ext cx="2773873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97501" y="1857077"/>
            <a:ext cx="2133749" cy="159966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learning loop (human-in-loop)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128K context model support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200+ users, $50K ARR target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 funding round</a:t>
            </a:r>
            <a:endParaRPr lang="en-US" sz="1100" dirty="0"/>
          </a:p>
          <a:p>
            <a:pPr algn="l" marL="88900" indent="-88900">
              <a:lnSpc>
                <a:spcPts val="198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expansion to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9600" y="4435673"/>
            <a:ext cx="3886200" cy="453926"/>
          </a:xfrm>
          <a:prstGeom prst="roundRect">
            <a:avLst>
              <a:gd name="adj" fmla="val 22383"/>
            </a:avLst>
          </a:prstGeom>
          <a:solidFill>
            <a:srgbClr val="00F5A0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35242" y="4572149"/>
            <a:ext cx="14653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North Star Metric: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29580" y="4572149"/>
            <a:ext cx="208791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Monthly Annotated Labels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48200" y="4435673"/>
            <a:ext cx="3886200" cy="453926"/>
          </a:xfrm>
          <a:prstGeom prst="roundRect">
            <a:avLst>
              <a:gd name="adj" fmla="val 22383"/>
            </a:avLst>
          </a:prstGeom>
          <a:solidFill>
            <a:srgbClr val="A855F7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152602" y="4572149"/>
            <a:ext cx="10624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2026 Target: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8889" y="4572149"/>
            <a:ext cx="21414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55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1M+ Labels / Month by Q4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upload/slides/closing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08450" y="8536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3016642" y="1285429"/>
            <a:ext cx="3110716" cy="6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6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267200" y="2118420"/>
            <a:ext cx="609600" cy="38100"/>
          </a:xfrm>
          <a:prstGeom prst="rect">
            <a:avLst/>
          </a:prstGeom>
          <a:solidFill>
            <a:srgbClr val="00F5A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504902" y="2410420"/>
            <a:ext cx="6134048" cy="658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2800"/>
              </a:spcAft>
              <a:buNone/>
            </a:pPr>
            <a:r>
              <a:rPr lang="en-US" sz="16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 the future of intelligent data annotation. Let's transform how AI models learn.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054444" y="3384798"/>
            <a:ext cx="78125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FFFFF">
                    <a:alpha val="4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379077" y="3575298"/>
            <a:ext cx="2131993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github.com/zan-maker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34895" y="3384798"/>
            <a:ext cx="88728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FFFFF">
                    <a:alpha val="4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88481" y="3575298"/>
            <a:ext cx="2180112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F5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CubicZan Agent Swarm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42791" y="4149923"/>
            <a:ext cx="33642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800"/>
              </a:spcBef>
              <a:buNone/>
            </a:pPr>
            <a:r>
              <a:rPr lang="en-US" sz="1100" dirty="0">
                <a:solidFill>
                  <a:srgbClr val="FFFFFF">
                    <a:alpha val="3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Supermoon 2026  ·  Growth Engine Application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CubicZan Agent Swarm - Growth Engine Application</dc:title>
  <dc:subject>Supermoon 2026</dc:subject>
  <dc:creator>CubicZan</dc:creator>
  <cp:lastModifiedBy>CubicZan</cp:lastModifiedBy>
  <cp:revision>1</cp:revision>
  <dcterms:created xsi:type="dcterms:W3CDTF">2026-04-17T11:32:01Z</dcterms:created>
  <dcterms:modified xsi:type="dcterms:W3CDTF">2026-04-17T11:32:01Z</dcterms:modified>
</cp:coreProperties>
</file>